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Light" panose="020B0306030504020204" pitchFamily="34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C92D8-7A02-3398-3239-820B71B7B537}" v="838" dt="2026-01-20T15:04:20.376"/>
  </p1510:revLst>
</p1510:revInfo>
</file>

<file path=ppt/tableStyles.xml><?xml version="1.0" encoding="utf-8"?>
<a:tblStyleLst xmlns:a="http://schemas.openxmlformats.org/drawingml/2006/main" def="{9DDAC48E-AFD6-4CED-A786-DED068486B2C}">
  <a:tblStyle styleId="{9DDAC48E-AFD6-4CED-A786-DED068486B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ani.ai/resources/blogs/the-rise-of-multilingual-banking-serving-indias-next-billion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ani.ai/resources/blogs/the-rise-of-multilingual-banking-serving-indias-next-billion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cialchamps.com/indian-fintech-market-outlook-2025-trends-opportunities-and-marketing-strategies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30bad42b8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30bad42b8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baa183746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6baa183746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30bad42b8_3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830bad42b8_3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8ec4a870d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78ec4a870d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Source: https://www.jsr.org/hs/index.php/path/article/view/3198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c59394f00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6c59394f00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30bad42b8_5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830bad42b8_5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54da7ee2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854da7ee2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30bad42b8_5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830bad42b8_5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54da7ee2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854da7ee2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c59394f00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36c59394f00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8ec4a870d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78ec4a870d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30bad42b8_5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830bad42b8_5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8ec4a870d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378ec4a870d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Source: https://www.gnani.ai/resources/blogs/the-rise-of-multilingual-banking-serving-indias-next-billion/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30bad42b8_5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830bad42b8_5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8ec4a870d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378ec4a870d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68% →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https://www.gnani.ai/resources/blogs/the-rise-of-multilingual-banking-serving-indias-next-billion</a:t>
            </a:r>
            <a:br>
              <a:rPr lang="en-GB"/>
            </a:br>
            <a:r>
              <a:rPr lang="en-GB"/>
              <a:t>53% → https://www.gnani.ai/resources/blogs/the-rise-of-multilingual-banking-serving-indias-next-billion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30bad42b8_5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3830bad42b8_5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47%, 28%, 31%, 22% →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https://www.gnani.ai/resources/blogs/the-rise-of-multilingual-banking-serving-indias-next-billion/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30bad42b8_5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3830bad42b8_5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 article states: $990Billion by 2032 → https://www.globenewswire.com/news-release/2025/05/09/3077984/28124/en/India-s-Fintech-Market-to-Reach-990-Billion-by-2032-at-30-2-CAGR-Fintech-Firms-Eye-Untapped-Indian-Digital-Payments-Market-with-Secure-Low-Cost-Digital-Financial-Solutions.html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India's fintech market valued at $110 billion in 2024 → possible to cross 150B in 2025  → </a:t>
            </a:r>
            <a:r>
              <a:rPr lang="en-GB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https://socialchamps.com/indian-fintech-market-outlook-2025-trends-opportunities-and-marketing-strategies/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Growth rate in 2025→ 15%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B057F0D9-0E3E-FA55-1F23-0187E56C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baa183746_4_84:notes">
            <a:extLst>
              <a:ext uri="{FF2B5EF4-FFF2-40B4-BE49-F238E27FC236}">
                <a16:creationId xmlns:a16="http://schemas.microsoft.com/office/drawing/2014/main" id="{CC22C8F5-A3D4-E988-1612-A5E14BDEF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6baa183746_4_84:notes">
            <a:extLst>
              <a:ext uri="{FF2B5EF4-FFF2-40B4-BE49-F238E27FC236}">
                <a16:creationId xmlns:a16="http://schemas.microsoft.com/office/drawing/2014/main" id="{B29AB441-2858-45E9-859A-E0B04414E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3145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yndryl.vercel.ap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ushant0753/Kyndryl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obenewswire.com/news-release/2025/05/09/3077984/28124/en/India-s-Fintech-Market-to-Reach-990-Billion-by-2032-at-30-2-CAGR-Fintech-Firms-Eye-Untapped-Indian-Digital-Payments-Market-with-Secure-Low-Cost-Digital-Financial-Solutions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82824" y="281375"/>
            <a:ext cx="1590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6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645324" y="1871700"/>
            <a:ext cx="194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886E"/>
                </a:solidFill>
              </a:rPr>
              <a:t>FLIQ</a:t>
            </a:r>
            <a:endParaRPr sz="1800" b="1">
              <a:solidFill>
                <a:srgbClr val="00886E"/>
              </a:solidFill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721011" y="1816966"/>
            <a:ext cx="0" cy="867600"/>
          </a:xfrm>
          <a:prstGeom prst="straightConnector1">
            <a:avLst/>
          </a:prstGeom>
          <a:noFill/>
          <a:ln w="9525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3"/>
          <p:cNvSpPr txBox="1"/>
          <p:nvPr/>
        </p:nvSpPr>
        <p:spPr>
          <a:xfrm>
            <a:off x="4465325" y="2191850"/>
            <a:ext cx="230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</a:rPr>
              <a:t>Financial Language Intelligence Quotient</a:t>
            </a:r>
            <a:endParaRPr sz="1200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0886E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202400" y="1968450"/>
            <a:ext cx="15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00886E"/>
                </a:solidFill>
              </a:rPr>
              <a:t>BotGods</a:t>
            </a:r>
            <a:endParaRPr sz="2400" b="1">
              <a:solidFill>
                <a:srgbClr val="00886E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575" y="1834363"/>
            <a:ext cx="832825" cy="8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2840750" y="2872763"/>
            <a:ext cx="376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444746"/>
                </a:solidFill>
                <a:latin typeface="Open Sans"/>
                <a:ea typeface="Open Sans"/>
                <a:cs typeface="Open Sans"/>
                <a:sym typeface="Open Sans"/>
              </a:rPr>
              <a:t>From 'What is fixed deposit?' to 'Mera paisa kitna badhega?'</a:t>
            </a:r>
            <a:endParaRPr sz="900" b="1">
              <a:solidFill>
                <a:srgbClr val="4447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4447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64" name="Google Shape;64;p13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3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813101" y="961500"/>
            <a:ext cx="3517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sng">
                <a:solidFill>
                  <a:srgbClr val="00886E"/>
                </a:solidFill>
              </a:rPr>
              <a:t>Team Members</a:t>
            </a:r>
            <a:endParaRPr sz="3200" b="1" u="sng">
              <a:solidFill>
                <a:srgbClr val="00886E"/>
              </a:solidFill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1365375" y="1985250"/>
            <a:ext cx="1021800" cy="1024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228625" y="2011050"/>
            <a:ext cx="1021800" cy="1024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3350625" y="2011050"/>
            <a:ext cx="1021800" cy="1024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256513" y="2011050"/>
            <a:ext cx="1021800" cy="1024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832825" y="3035250"/>
            <a:ext cx="212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886E"/>
                </a:solidFill>
              </a:rPr>
              <a:t>Akshat Saraswat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Gen AI Dev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ML \ DS</a:t>
            </a:r>
            <a:endParaRPr sz="1200">
              <a:solidFill>
                <a:srgbClr val="00886E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2813100" y="3044675"/>
            <a:ext cx="170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886E"/>
                </a:solidFill>
              </a:rPr>
              <a:t>Divyanshu Kasherwal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GEN AI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Cloud Engineer</a:t>
            </a:r>
            <a:endParaRPr sz="1200">
              <a:solidFill>
                <a:srgbClr val="00886E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793375" y="3044675"/>
            <a:ext cx="212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886E"/>
                </a:solidFill>
              </a:rPr>
              <a:t>Kritish Jaitely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GenAI Development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System Architecture</a:t>
            </a:r>
            <a:endParaRPr sz="1200">
              <a:solidFill>
                <a:srgbClr val="00886E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914050" y="3035250"/>
            <a:ext cx="201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886E"/>
                </a:solidFill>
              </a:rPr>
              <a:t>Sushant Kumar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Frontend Developer</a:t>
            </a:r>
            <a:endParaRPr sz="1200">
              <a:solidFill>
                <a:srgbClr val="00886E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200"/>
              <a:buChar char="●"/>
            </a:pPr>
            <a:r>
              <a:rPr lang="en-GB" sz="1200">
                <a:solidFill>
                  <a:srgbClr val="00886E"/>
                </a:solidFill>
              </a:rPr>
              <a:t>Backend Developer</a:t>
            </a:r>
            <a:endParaRPr sz="1200">
              <a:solidFill>
                <a:srgbClr val="00886E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313764" y="31598"/>
            <a:ext cx="112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800" tIns="52800" rIns="52800" bIns="528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39" b="1">
                <a:solidFill>
                  <a:srgbClr val="00886E"/>
                </a:solidFill>
              </a:rPr>
              <a:t>FLIQ</a:t>
            </a:r>
            <a:endParaRPr sz="1039" b="1">
              <a:solidFill>
                <a:srgbClr val="00886E"/>
              </a:solidFill>
            </a:endParaRPr>
          </a:p>
        </p:txBody>
      </p:sp>
      <p:cxnSp>
        <p:nvCxnSpPr>
          <p:cNvPr id="81" name="Google Shape;81;p14"/>
          <p:cNvCxnSpPr/>
          <p:nvPr/>
        </p:nvCxnSpPr>
        <p:spPr>
          <a:xfrm>
            <a:off x="1357457" y="0"/>
            <a:ext cx="0" cy="501000"/>
          </a:xfrm>
          <a:prstGeom prst="straightConnector1">
            <a:avLst/>
          </a:prstGeom>
          <a:noFill/>
          <a:ln w="55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14"/>
          <p:cNvSpPr txBox="1"/>
          <p:nvPr/>
        </p:nvSpPr>
        <p:spPr>
          <a:xfrm>
            <a:off x="1209853" y="216417"/>
            <a:ext cx="13329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800" tIns="52800" rIns="52800" bIns="528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2" b="1">
                <a:solidFill>
                  <a:srgbClr val="00886E"/>
                </a:solidFill>
              </a:rPr>
              <a:t>Financial Language Intelligence Quotient</a:t>
            </a:r>
            <a:endParaRPr sz="692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92" b="1">
              <a:solidFill>
                <a:srgbClr val="00886E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80780" y="87450"/>
            <a:ext cx="8769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800" tIns="52800" rIns="52800" bIns="528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5" b="1">
                <a:solidFill>
                  <a:srgbClr val="00886E"/>
                </a:solidFill>
              </a:rPr>
              <a:t>BotGods</a:t>
            </a:r>
            <a:endParaRPr sz="1385" b="1">
              <a:solidFill>
                <a:srgbClr val="00886E"/>
              </a:solidFill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43"/>
            <a:ext cx="480773" cy="48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87" name="Google Shape;87;p14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4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0625" y="1960650"/>
            <a:ext cx="1073400" cy="107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0" name="Google Shape;90;p14" title="susha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8625" y="2011050"/>
            <a:ext cx="1021800" cy="1024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1" name="Google Shape;91;p14" title="1724440609144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2175" y="1960650"/>
            <a:ext cx="1125000" cy="1073400"/>
          </a:xfrm>
          <a:prstGeom prst="ellipse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2" name="Google Shape;92;p14" title="1755717117111.jpg"/>
          <p:cNvPicPr preferRelativeResize="0"/>
          <p:nvPr/>
        </p:nvPicPr>
        <p:blipFill rotWithShape="1">
          <a:blip r:embed="rId7">
            <a:alphaModFix/>
          </a:blip>
          <a:srcRect l="21884" t="9059" r="26720" b="34602"/>
          <a:stretch/>
        </p:blipFill>
        <p:spPr>
          <a:xfrm>
            <a:off x="5238025" y="1986450"/>
            <a:ext cx="1073400" cy="1073400"/>
          </a:xfrm>
          <a:prstGeom prst="ellipse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/>
          <p:nvPr/>
        </p:nvSpPr>
        <p:spPr>
          <a:xfrm>
            <a:off x="0" y="567775"/>
            <a:ext cx="9144000" cy="48900"/>
          </a:xfrm>
          <a:prstGeom prst="rect">
            <a:avLst/>
          </a:prstGeom>
          <a:solidFill>
            <a:srgbClr val="00886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415" name="Google Shape;415;p30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6" name="Google Shape;416;p30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2694300" y="1822200"/>
            <a:ext cx="4288285" cy="1128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400" b="1" dirty="0">
                <a:solidFill>
                  <a:srgbClr val="00886E"/>
                </a:solidFill>
                <a:latin typeface="Open Sans"/>
                <a:ea typeface="Open Sans"/>
                <a:cs typeface="Open Sans"/>
              </a:rPr>
              <a:t>Demo link: </a:t>
            </a:r>
            <a:r>
              <a:rPr lang="en-GB" sz="2400" dirty="0">
                <a:solidFill>
                  <a:srgbClr val="00886E"/>
                </a:solidFill>
                <a:ea typeface="Open Sans"/>
                <a:hlinkClick r:id="rId3"/>
              </a:rPr>
              <a:t>AI Chat App</a:t>
            </a:r>
            <a:endParaRPr lang="en-US"/>
          </a:p>
        </p:txBody>
      </p:sp>
      <p:sp>
        <p:nvSpPr>
          <p:cNvPr id="418" name="Google Shape;418;p30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9250" y="20955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 txBox="1"/>
          <p:nvPr/>
        </p:nvSpPr>
        <p:spPr>
          <a:xfrm>
            <a:off x="2861750" y="2858150"/>
            <a:ext cx="42830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2400">
              <a:buClr>
                <a:srgbClr val="666666"/>
              </a:buClr>
              <a:buSzPts val="1200"/>
            </a:pPr>
            <a:r>
              <a:rPr lang="en-GB" sz="1200" i="1" dirty="0" err="1">
                <a:solidFill>
                  <a:srgbClr val="666666"/>
                </a:solidFill>
                <a:latin typeface="Open Sans Light"/>
                <a:ea typeface="Open Sans Light"/>
                <a:cs typeface="Open Sans Light"/>
              </a:rPr>
              <a:t>GitlHub</a:t>
            </a:r>
            <a:r>
              <a:rPr lang="en-GB" sz="1200" i="1" dirty="0">
                <a:solidFill>
                  <a:srgbClr val="666666"/>
                </a:solidFill>
                <a:latin typeface="Open Sans Light"/>
                <a:ea typeface="Open Sans Light"/>
                <a:cs typeface="Open Sans Light"/>
              </a:rPr>
              <a:t> link: </a:t>
            </a:r>
            <a:r>
              <a:rPr lang="en-GB" sz="1200" dirty="0">
                <a:solidFill>
                  <a:srgbClr val="666666"/>
                </a:solidFill>
                <a:ea typeface="Open Sans Light"/>
                <a:hlinkClick r:id="rId5"/>
              </a:rPr>
              <a:t>Sushant0753/Kyndryl: Kyndryl x Bhasini Finnovative</a:t>
            </a:r>
            <a:endParaRPr lang="en-US"/>
          </a:p>
        </p:txBody>
      </p:sp>
      <p:sp>
        <p:nvSpPr>
          <p:cNvPr id="421" name="Google Shape;421;p30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422" name="Google Shape;422;p30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30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425" name="Google Shape;42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-100" y="5059675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68949" y="525325"/>
            <a:ext cx="364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b="1">
                <a:solidFill>
                  <a:srgbClr val="00886E"/>
                </a:solidFill>
              </a:rPr>
              <a:t>Table of Content 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 rot="10800000" flipH="1">
            <a:off x="3172900" y="701700"/>
            <a:ext cx="5971200" cy="567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-100" y="704701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200" y="1667500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100" y="2246538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9950" y="1683700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3750" y="2820363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5100" y="3414850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9950" y="2821125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79950" y="3392038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79950" y="2259775"/>
            <a:ext cx="261600" cy="2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187500" y="1598388"/>
            <a:ext cx="2220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252900" y="2154813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Solution Overview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193050" y="2706800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System Architecture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064650" y="1576725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Tech Stack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244425" y="3278838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UI Overview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079275" y="2750800"/>
            <a:ext cx="264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Innovation &amp; Feasibility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079275" y="3278850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Impact Metrics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079275" y="2132500"/>
            <a:ext cx="2089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MVP Scope</a:t>
            </a:r>
            <a:endParaRPr sz="1600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119" name="Google Shape;119;p15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15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122" name="Google Shape;122;p15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15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Problem Statement 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 rot="10800000" flipH="1">
            <a:off x="3149525" y="664250"/>
            <a:ext cx="5994600" cy="33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76850" y="854075"/>
            <a:ext cx="6562500" cy="3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Overview:</a:t>
            </a:r>
            <a:endParaRPr sz="18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796B"/>
              </a:buClr>
              <a:buSzPts val="1100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With over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120 local languages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India, most digital assistants give very general answers and don't understand banking terms or processes, leaving people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 confused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about account details, product features, and financial rules.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This makes digital banking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harder to use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especially when customers need clear and simple guidance.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2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High call abandonment in banking is linked to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 long waits and confusing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IVR; simpler, multilingual self-service reduces drop-offs</a:t>
            </a:r>
            <a:endParaRPr sz="10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Challenges:</a:t>
            </a:r>
            <a:endParaRPr sz="18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Language barriers make it difficult for many rural and semi-urban people in India to use banking services in English -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87.5% of financial executives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confirm that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language barriers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limit FinTech benefits.</a:t>
            </a:r>
            <a:endParaRPr sz="1100" b="1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Current chatbots sound robotic and lack empathy, contributing to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200% increase in call abandonment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since 2019, leading to poor customer experience,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low trust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and financial exclusion for millions.</a:t>
            </a:r>
            <a:br>
              <a:rPr lang="en-GB" sz="1100">
                <a:solidFill>
                  <a:srgbClr val="333333"/>
                </a:solidFill>
              </a:rPr>
            </a:br>
            <a:endParaRPr sz="1100">
              <a:solidFill>
                <a:srgbClr val="333333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333333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50" y="944350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50" y="2858579"/>
            <a:ext cx="3078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138" name="Google Shape;138;p16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16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0150" y="2368813"/>
            <a:ext cx="982200" cy="9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Solution Overview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 rot="10800000" flipH="1">
            <a:off x="3149525" y="664250"/>
            <a:ext cx="5994600" cy="33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31475" y="876925"/>
            <a:ext cx="6636000" cy="3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Introducing FLIQ (Financial Services LLM)</a:t>
            </a:r>
            <a:endParaRPr sz="18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85750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Open Sans"/>
              <a:buChar char="-"/>
            </a:pPr>
            <a:r>
              <a:rPr lang="en-GB" sz="900" i="1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Banking Intelligence That Speaks Your Language</a:t>
            </a:r>
            <a:endParaRPr sz="900" i="1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Domain-Specific Intelligence: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4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Purpose-built FS-LLM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trained on banking terminology, regulations, and procedures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4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Understands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financial context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- transforms "annual percentage yield" into "yearly earnings on your savings</a:t>
            </a:r>
            <a:endParaRPr b="1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Multilingual &amp; Human-Centered: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4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Communicates in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10+ Indian languages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(Hindi, Punjabi, Tamil, Bengali, etc.)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4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Sentiment-aware conversations that feel natural and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 empathetic, not robotic</a:t>
            </a:r>
            <a:endParaRPr sz="1100" b="1">
              <a:solidFill>
                <a:srgbClr val="F973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Omnichannel Integration: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4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Seamlessly plugs into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 all customer touchpoints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- kiosks, mobile apps, chatbots, IVR, social media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4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Real-time translation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and contextual responses across all banking channels</a:t>
            </a:r>
            <a:endParaRPr b="1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50" y="1695550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50" y="2741963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050" y="3542125"/>
            <a:ext cx="261600" cy="2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450" y="884897"/>
            <a:ext cx="4311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161" name="Google Shape;161;p17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17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167" name="Google Shape;167;p17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17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Architect Diagram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8"/>
          <p:cNvSpPr/>
          <p:nvPr/>
        </p:nvSpPr>
        <p:spPr>
          <a:xfrm rot="10800000" flipH="1">
            <a:off x="3149525" y="664250"/>
            <a:ext cx="5994600" cy="33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178" name="Google Shape;178;p18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18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184" name="Google Shape;184;p18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" name="Google Shape;185;p18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25" y="934225"/>
            <a:ext cx="7196799" cy="3649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Architect Diagram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 rot="10800000" flipH="1">
            <a:off x="3149525" y="664250"/>
            <a:ext cx="5994600" cy="33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196" name="Google Shape;196;p19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7" name="Google Shape;197;p19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199" name="Google Shape;1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202" name="Google Shape;202;p19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19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4" name="Google Shape;2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795" y="941299"/>
            <a:ext cx="3341280" cy="39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3751650" y="1273425"/>
            <a:ext cx="463500" cy="46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UI Overview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 rot="10800000" flipH="1">
            <a:off x="2583650" y="664250"/>
            <a:ext cx="6560400" cy="33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p20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20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25" y="1200350"/>
            <a:ext cx="7542824" cy="29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UI Overview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 rot="10800000" flipH="1">
            <a:off x="2583650" y="664250"/>
            <a:ext cx="6560400" cy="33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4" name="Google Shape;234;p21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239" name="Google Shape;239;p21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1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1" name="Google Shape;241;p21" title="MacBook Air -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950" y="871125"/>
            <a:ext cx="3518074" cy="198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title="MacBook Air -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950" y="2979725"/>
            <a:ext cx="3518074" cy="19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title="MacBook Air -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7925" y="871112"/>
            <a:ext cx="3518074" cy="198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title="MacBook Air - 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7925" y="2979725"/>
            <a:ext cx="3518074" cy="19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369049" y="487950"/>
            <a:ext cx="364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Tech Stack</a:t>
            </a: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/>
          <p:nvPr/>
        </p:nvSpPr>
        <p:spPr>
          <a:xfrm rot="10800000" flipH="1">
            <a:off x="2743650" y="664375"/>
            <a:ext cx="6400500" cy="51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3" name="Google Shape;253;p22"/>
          <p:cNvGraphicFramePr/>
          <p:nvPr>
            <p:extLst>
              <p:ext uri="{D42A27DB-BD31-4B8C-83A1-F6EECF244321}">
                <p14:modId xmlns:p14="http://schemas.microsoft.com/office/powerpoint/2010/main" val="3546448894"/>
              </p:ext>
            </p:extLst>
          </p:nvPr>
        </p:nvGraphicFramePr>
        <p:xfrm>
          <a:off x="479275" y="979088"/>
          <a:ext cx="7893150" cy="3473550"/>
        </p:xfrm>
        <a:graphic>
          <a:graphicData uri="http://schemas.openxmlformats.org/drawingml/2006/table">
            <a:tbl>
              <a:tblPr>
                <a:noFill/>
                <a:tableStyleId>{9DDAC48E-AFD6-4CED-A786-DED068486B2C}</a:tableStyleId>
              </a:tblPr>
              <a:tblGrid>
                <a:gridCol w="275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86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lt1"/>
                          </a:solidFill>
                        </a:rPr>
                        <a:t>Tools / Technologies Used</a:t>
                      </a:r>
                      <a:endParaRPr sz="1800" b="1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8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796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User Interface</a:t>
                      </a:r>
                      <a:endParaRPr sz="1200" b="1" dirty="0">
                        <a:solidFill>
                          <a:srgbClr val="00796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Next.js, Tailwind CSS, HTML/CSS, JavaScript, Figma</a:t>
                      </a:r>
                      <a:endParaRPr sz="1200" dirty="0">
                        <a:solidFill>
                          <a:srgbClr val="333333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796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</a:t>
                      </a:r>
                      <a:r>
                        <a:rPr lang="en-GB" sz="1200" b="1" dirty="0">
                          <a:solidFill>
                            <a:srgbClr val="00796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Language Model</a:t>
                      </a:r>
                      <a:endParaRPr sz="1200" b="1" dirty="0">
                        <a:solidFill>
                          <a:srgbClr val="00796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Context Aware LLM (</a:t>
                      </a:r>
                      <a:r>
                        <a:rPr lang="en-GB" sz="1200" b="1" dirty="0">
                          <a:solidFill>
                            <a:schemeClr val="accent4">
                              <a:lumMod val="76000"/>
                            </a:schemeClr>
                          </a:solidFill>
                        </a:rPr>
                        <a:t>GPT-4o</a:t>
                      </a: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)</a:t>
                      </a:r>
                      <a:endParaRPr lang="en-GB" sz="1200" b="1" dirty="0">
                        <a:solidFill>
                          <a:srgbClr val="F9731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796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Knowledge Retrieval (RAG)</a:t>
                      </a:r>
                      <a:endParaRPr sz="1200" b="1" dirty="0">
                        <a:solidFill>
                          <a:srgbClr val="00796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rgbClr val="333333"/>
                          </a:solidFill>
                        </a:rPr>
                        <a:t>Qdrant</a:t>
                      </a: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 (vector DB) + OpenAI text-embedding-3-large</a:t>
                      </a:r>
                      <a:endParaRPr sz="1200" dirty="0">
                        <a:solidFill>
                          <a:srgbClr val="333333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796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Language Processing</a:t>
                      </a:r>
                      <a:endParaRPr sz="1200" b="1" dirty="0">
                        <a:solidFill>
                          <a:srgbClr val="00796B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 err="1">
                          <a:solidFill>
                            <a:srgbClr val="F97316"/>
                          </a:solidFill>
                        </a:rPr>
                        <a:t>Bhasini</a:t>
                      </a:r>
                      <a:r>
                        <a:rPr lang="en-GB" sz="1200" b="1" dirty="0">
                          <a:solidFill>
                            <a:srgbClr val="F97316"/>
                          </a:solidFill>
                        </a:rPr>
                        <a:t> API Key </a:t>
                      </a:r>
                      <a:r>
                        <a:rPr lang="en-GB" sz="1200" b="0" i="0" u="none" strike="noStrike" noProof="0" dirty="0">
                          <a:solidFill>
                            <a:srgbClr val="333333"/>
                          </a:solidFill>
                          <a:latin typeface="Arial"/>
                        </a:rPr>
                        <a:t>for Translation and Language Detection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796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Memory &amp; Context</a:t>
                      </a:r>
                      <a:endParaRPr sz="1200" b="1" dirty="0">
                        <a:solidFill>
                          <a:srgbClr val="00796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chemeClr val="accent4">
                              <a:lumMod val="76000"/>
                            </a:schemeClr>
                          </a:solidFill>
                        </a:rPr>
                        <a:t>MongoDB</a:t>
                      </a: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 + Conversation history + </a:t>
                      </a:r>
                      <a:r>
                        <a:rPr lang="en-GB" sz="1200" b="1" err="1">
                          <a:solidFill>
                            <a:srgbClr val="F97316"/>
                          </a:solidFill>
                        </a:rPr>
                        <a:t>LangChain</a:t>
                      </a:r>
                      <a:endParaRPr sz="1200" err="1">
                        <a:solidFill>
                          <a:srgbClr val="333333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886E"/>
                          </a:solidFill>
                        </a:rPr>
                        <a:t>Voice Layer</a:t>
                      </a:r>
                      <a:endParaRPr sz="1200" b="1" dirty="0">
                        <a:solidFill>
                          <a:srgbClr val="00886E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 err="1">
                          <a:solidFill>
                            <a:schemeClr val="accent4">
                              <a:lumMod val="76000"/>
                            </a:schemeClr>
                          </a:solidFill>
                        </a:rPr>
                        <a:t>ElevenLabs</a:t>
                      </a: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(Text to Speech) + </a:t>
                      </a:r>
                      <a:r>
                        <a:rPr lang="en-GB" sz="1200" b="1" dirty="0" err="1">
                          <a:solidFill>
                            <a:schemeClr val="accent4">
                              <a:lumMod val="76000"/>
                            </a:schemeClr>
                          </a:solidFill>
                        </a:rPr>
                        <a:t>SpeechRecognition</a:t>
                      </a:r>
                      <a:r>
                        <a:rPr lang="en-GB" sz="1200" b="1" dirty="0">
                          <a:solidFill>
                            <a:schemeClr val="accent4">
                              <a:lumMod val="76000"/>
                            </a:schemeClr>
                          </a:solidFill>
                        </a:rPr>
                        <a:t> </a:t>
                      </a:r>
                      <a:r>
                        <a:rPr lang="en-GB" sz="1200" b="0" i="0" u="none" strike="noStrike" noProof="0" dirty="0">
                          <a:solidFill>
                            <a:srgbClr val="333333"/>
                          </a:solidFill>
                          <a:latin typeface="Arial"/>
                        </a:rPr>
                        <a:t>( Speech to Text)</a:t>
                      </a:r>
                      <a:endParaRPr sz="1200" b="1" dirty="0" err="1">
                        <a:solidFill>
                          <a:schemeClr val="accent4">
                            <a:lumMod val="76000"/>
                          </a:schemeClr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886E"/>
                          </a:solidFill>
                        </a:rPr>
                        <a:t>Cloud Infrastructure</a:t>
                      </a:r>
                      <a:endParaRPr sz="1200" b="1" dirty="0">
                        <a:solidFill>
                          <a:srgbClr val="00886E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rgbClr val="333333"/>
                          </a:solidFill>
                        </a:rPr>
                        <a:t>FastAPI</a:t>
                      </a: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 (APIs), Docker (deployment), </a:t>
                      </a:r>
                      <a:r>
                        <a:rPr lang="en-GB" sz="1200" dirty="0" err="1">
                          <a:solidFill>
                            <a:srgbClr val="333333"/>
                          </a:solidFill>
                        </a:rPr>
                        <a:t>Vercel</a:t>
                      </a:r>
                      <a:r>
                        <a:rPr lang="en-GB" sz="1200" dirty="0">
                          <a:solidFill>
                            <a:srgbClr val="333333"/>
                          </a:solidFill>
                        </a:rPr>
                        <a:t>, Azure</a:t>
                      </a:r>
                      <a:endParaRPr sz="1200" dirty="0">
                        <a:solidFill>
                          <a:srgbClr val="333333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886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4" name="Google Shape;254;p22"/>
          <p:cNvSpPr txBox="1"/>
          <p:nvPr/>
        </p:nvSpPr>
        <p:spPr>
          <a:xfrm>
            <a:off x="7378450" y="45682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8063378" y="45391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256" name="Google Shape;256;p22"/>
          <p:cNvCxnSpPr/>
          <p:nvPr/>
        </p:nvCxnSpPr>
        <p:spPr>
          <a:xfrm rot="10800000">
            <a:off x="8063375" y="45150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2"/>
          <p:cNvSpPr txBox="1"/>
          <p:nvPr/>
        </p:nvSpPr>
        <p:spPr>
          <a:xfrm>
            <a:off x="7683375" y="44682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259" name="Google Shape;259;p22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22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262" name="Google Shape;2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4950" y="993325"/>
            <a:ext cx="369000" cy="3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3850" y="1023925"/>
            <a:ext cx="307800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369049" y="487950"/>
            <a:ext cx="364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 MVP Scope</a:t>
            </a: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 rot="10800000" flipH="1">
            <a:off x="2545675" y="664200"/>
            <a:ext cx="6598500" cy="369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476975" y="1051200"/>
            <a:ext cx="7706400" cy="3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Domain-Specific Intelligence</a:t>
            </a:r>
            <a:endParaRPr sz="1600" b="1" dirty="0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indent="-298450" algn="just">
              <a:lnSpc>
                <a:spcPct val="115000"/>
              </a:lnSpc>
              <a:spcBef>
                <a:spcPts val="400"/>
              </a:spcBef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Understands banking better than </a:t>
            </a:r>
            <a:r>
              <a:rPr lang="en-GB" sz="1100" b="1" dirty="0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ChatGPT</a:t>
            </a: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 ----  with strong context awareness financial terminology, regulations, and institutional procedures</a:t>
            </a:r>
            <a:endParaRPr sz="11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Converts complex terms like "compound interest" into simple explanations: </a:t>
            </a:r>
            <a:r>
              <a:rPr lang="en-GB" sz="1100" i="1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"extra money you earn on money you already earned"</a:t>
            </a:r>
            <a:endParaRPr sz="11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600" b="1" dirty="0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Multilingual Coverage</a:t>
            </a:r>
            <a:endParaRPr sz="1600" b="1" dirty="0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Covers </a:t>
            </a:r>
            <a:r>
              <a:rPr lang="en-GB" sz="1100" b="1" dirty="0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rural/vernacular</a:t>
            </a: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100" b="1" dirty="0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users </a:t>
            </a: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with 10+ Indian languages (Hindi, Punjabi, Tamil, Bengali, Gujarati, Marathi, etc.)</a:t>
            </a:r>
            <a:endParaRPr sz="11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Cultural context awareness - understands regional banking preferences and local financial habits</a:t>
            </a:r>
            <a:endParaRPr sz="11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Omnichannel Integration</a:t>
            </a:r>
            <a:endParaRPr sz="1600" b="1" dirty="0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 dirty="0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One model</a:t>
            </a:r>
            <a:r>
              <a:rPr lang="en-GB" sz="11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many touchpoints - seamlessly works across kiosks, mobile apps, chatbots, IVR, social media</a:t>
            </a:r>
            <a:endParaRPr sz="11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Open Sans"/>
              <a:buChar char="●"/>
            </a:pPr>
            <a:r>
              <a:rPr lang="en-GB" sz="1100" dirty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Consistent experience whether customer types, speaks, or visits branch</a:t>
            </a:r>
            <a:endParaRPr sz="1100" dirty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275" name="Google Shape;275;p23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23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278" name="Google Shape;2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281" name="Google Shape;281;p23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282;p23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3" name="Google Shape;28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75" y="1115225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668" y="2432100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668" y="3607625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369049" y="487950"/>
            <a:ext cx="364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 MVP Scope</a:t>
            </a: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/>
          <p:nvPr/>
        </p:nvSpPr>
        <p:spPr>
          <a:xfrm rot="10800000" flipH="1">
            <a:off x="2545675" y="664200"/>
            <a:ext cx="6598500" cy="369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476975" y="1051200"/>
            <a:ext cx="8315100" cy="36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Sentiment-Aware Responses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Empathetic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not robotic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- detects customer frustration, confusion, or satisfaction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Adjusts tone and explanation depth based on customer's emotional state and literacy level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 Enterprise Scalable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New banks/languages can be added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easily 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through modular architecture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Cloud-native design supports multiple financial institutions simultaneously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296" name="Google Shape;296;p24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" name="Google Shape;297;p24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299" name="Google Shape;2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302" name="Google Shape;302;p24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4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4" name="Google Shape;30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75" y="1134075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675" y="2240525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369049" y="487950"/>
            <a:ext cx="364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 </a:t>
            </a:r>
            <a:r>
              <a:rPr lang="en-GB" b="1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Innovation &amp; Feasibility</a:t>
            </a: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5"/>
          <p:cNvSpPr/>
          <p:nvPr/>
        </p:nvSpPr>
        <p:spPr>
          <a:xfrm rot="10800000" flipH="1">
            <a:off x="3751650" y="664250"/>
            <a:ext cx="5392800" cy="171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532075" y="1045400"/>
            <a:ext cx="8315100" cy="3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For Customers: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Native Language Banking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Access banking in their own language - no more confusion with English-only interfaces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80%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of Indians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are more comfortable in their native language than English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Clear Understanding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Clear, jargon-free explanations - transforms "APR" into "yearly interest you pay"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53%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improvement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loan completion rates when explained in regional languages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Enhanced Trust &amp; Comfort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More trust and comfort with digital channels - banking feels familiar, not foreign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28% increase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customer satisfaction among non-English/Hindi speakers</a:t>
            </a:r>
            <a:endParaRPr sz="10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317" name="Google Shape;317;p25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25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320" name="Google Shape;320;p25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25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323" name="Google Shape;3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75" y="1600800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775" y="2549325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775" y="3441400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369049" y="487950"/>
            <a:ext cx="3642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Innovation &amp; Feasibility</a:t>
            </a:r>
            <a:endParaRPr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/>
          <p:nvPr/>
        </p:nvSpPr>
        <p:spPr>
          <a:xfrm rot="10800000" flipH="1">
            <a:off x="3674425" y="664125"/>
            <a:ext cx="5469600" cy="258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532075" y="1045400"/>
            <a:ext cx="71397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For Banks: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Customer Excellence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886E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Increased customer satisfaction and retention - happier customers stay longer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100"/>
              <a:buFont typeface="Roboto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47% expansion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customer reach in previously underserved regions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Cost Optimization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886E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Reduced support center load → cost savings - fewer calls, more self-service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100"/>
              <a:buFont typeface="Roboto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22% decrease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operating costs through automated multilingual services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Market Expansion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886E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Wider financial inclusion, especially in rural/semi-urban India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86E"/>
              </a:buClr>
              <a:buSzPts val="1100"/>
              <a:buFont typeface="Roboto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31% reduction</a:t>
            </a:r>
            <a:r>
              <a:rPr lang="en-GB" sz="1100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 branch footfall as voice banking adoption increases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338" name="Google Shape;338;p26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26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341" name="Google Shape;341;p26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26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344" name="Google Shape;3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75" y="1610975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775" y="2549325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775" y="3436000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369049" y="487950"/>
            <a:ext cx="364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 Impact Metrics</a:t>
            </a: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/>
          <p:nvPr/>
        </p:nvSpPr>
        <p:spPr>
          <a:xfrm rot="10800000" flipH="1">
            <a:off x="3129925" y="664275"/>
            <a:ext cx="6014400" cy="264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487775" y="1094025"/>
            <a:ext cx="8315100" cy="3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For Customers: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Language Empowerment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Clear, personalized banking in their own language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68%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of Indians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prefer 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financial transactions in their native language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Enhanced Understanding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Jargon-free explanations - "APR" becomes "yearly interest rate"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53% improvement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loan completion rates when explained in regional languages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357" name="Google Shape;357;p27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358" name="Google Shape;358;p27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27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361" name="Google Shape;3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27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364" name="Google Shape;364;p27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27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6" name="Google Shape;3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475" y="1670050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475" y="2585788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369049" y="487950"/>
            <a:ext cx="364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 Impact Metrics</a:t>
            </a: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8"/>
          <p:cNvSpPr/>
          <p:nvPr/>
        </p:nvSpPr>
        <p:spPr>
          <a:xfrm rot="10800000" flipH="1">
            <a:off x="3129925" y="664275"/>
            <a:ext cx="6014400" cy="264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487775" y="1094025"/>
            <a:ext cx="8315100" cy="3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For Banks: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Business Growth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Reduced churn, stronger trust, better cross-selling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47% expansion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customer reach in previously underserved regions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28% increase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customer satisfaction among non-English speakers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Cost Efficiency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31% reduction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branch footfall as digital adoption increases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22% decrease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 operating costs through automated multilingual services</a:t>
            </a:r>
            <a:endParaRPr sz="1000" b="1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28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378" name="Google Shape;378;p28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9" name="Google Shape;379;p28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381" name="Google Shape;3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8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384" name="Google Shape;384;p28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5" name="Google Shape;385;p28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6" name="Google Shape;3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475" y="1649850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475" y="2764750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"/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369049" y="487950"/>
            <a:ext cx="364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b="1">
                <a:solidFill>
                  <a:srgbClr val="00886E"/>
                </a:solidFill>
              </a:rPr>
              <a:t>Agentic AI</a:t>
            </a:r>
            <a:r>
              <a:rPr lang="en-GB" sz="1400" b="1" i="0" u="none" strike="noStrike" cap="none">
                <a:solidFill>
                  <a:srgbClr val="00886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GB" b="1">
                <a:solidFill>
                  <a:srgbClr val="00886E"/>
                </a:solidFill>
              </a:rPr>
              <a:t> Impact Metrics</a:t>
            </a: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rgbClr val="00886E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88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9"/>
          <p:cNvSpPr/>
          <p:nvPr/>
        </p:nvSpPr>
        <p:spPr>
          <a:xfrm rot="10800000" flipH="1">
            <a:off x="3129925" y="664275"/>
            <a:ext cx="6014400" cy="264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0" y="667326"/>
            <a:ext cx="369000" cy="393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414450" y="1094025"/>
            <a:ext cx="8315100" cy="31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For Society:</a:t>
            </a:r>
            <a:endParaRPr sz="1600"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 Financial Inclusion Revolution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Financial inclusion for rural &amp; semi-urban India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Only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36%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of rural Indians feel </a:t>
            </a:r>
            <a:r>
              <a:rPr lang="en-GB" sz="1100" b="1">
                <a:solidFill>
                  <a:srgbClr val="F97316"/>
                </a:solidFill>
                <a:latin typeface="Open Sans"/>
                <a:ea typeface="Open Sans"/>
                <a:cs typeface="Open Sans"/>
                <a:sym typeface="Open Sans"/>
              </a:rPr>
              <a:t>comfortable 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with English banking - FLIQ serves the remaining 64%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Democratizing financial services for India's next billion customers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00796B"/>
                </a:solidFill>
                <a:latin typeface="Open Sans"/>
                <a:ea typeface="Open Sans"/>
                <a:cs typeface="Open Sans"/>
                <a:sym typeface="Open Sans"/>
              </a:rPr>
              <a:t>National Impact</a:t>
            </a:r>
            <a:endParaRPr b="1">
              <a:solidFill>
                <a:srgbClr val="00796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Supports India's </a:t>
            </a:r>
            <a:r>
              <a:rPr lang="en-GB" sz="1100" b="1" u="sng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$990 billion</a:t>
            </a: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fintech growth target by 2032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100"/>
              <a:buFont typeface="Open Sans"/>
              <a:buChar char="●"/>
            </a:pPr>
            <a:r>
              <a:rPr lang="en-GB" sz="11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Bridges the digital language divide that limits true financial adoption</a:t>
            </a:r>
            <a:endParaRPr sz="110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398" name="Google Shape;398;p29"/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9" name="Google Shape;399;p29"/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401" name="Google Shape;40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404" name="Google Shape;404;p29"/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5" name="Google Shape;405;p29"/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6" name="Google Shape;40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150" y="2724813"/>
            <a:ext cx="279300" cy="2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150" y="1671975"/>
            <a:ext cx="279300" cy="2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>
          <a:extLst>
            <a:ext uri="{FF2B5EF4-FFF2-40B4-BE49-F238E27FC236}">
              <a16:creationId xmlns:a16="http://schemas.microsoft.com/office/drawing/2014/main" id="{96F1E335-794C-0EE1-90CD-30F580C1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>
            <a:extLst>
              <a:ext uri="{FF2B5EF4-FFF2-40B4-BE49-F238E27FC236}">
                <a16:creationId xmlns:a16="http://schemas.microsoft.com/office/drawing/2014/main" id="{08253637-D780-D5A2-F51C-B0B1771921E6}"/>
              </a:ext>
            </a:extLst>
          </p:cNvPr>
          <p:cNvSpPr/>
          <p:nvPr/>
        </p:nvSpPr>
        <p:spPr>
          <a:xfrm>
            <a:off x="0" y="567775"/>
            <a:ext cx="9144000" cy="48900"/>
          </a:xfrm>
          <a:prstGeom prst="rect">
            <a:avLst/>
          </a:prstGeom>
          <a:solidFill>
            <a:srgbClr val="00886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">
            <a:extLst>
              <a:ext uri="{FF2B5EF4-FFF2-40B4-BE49-F238E27FC236}">
                <a16:creationId xmlns:a16="http://schemas.microsoft.com/office/drawing/2014/main" id="{FAF4964F-B302-A1C6-46C8-397B1CCE1A7B}"/>
              </a:ext>
            </a:extLst>
          </p:cNvPr>
          <p:cNvSpPr txBox="1"/>
          <p:nvPr/>
        </p:nvSpPr>
        <p:spPr>
          <a:xfrm>
            <a:off x="7386325" y="4485650"/>
            <a:ext cx="797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GB" sz="11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Kyndryl</a:t>
            </a:r>
            <a:endParaRPr sz="1100" b="1" i="0" u="none" strike="noStrike" cap="none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30">
            <a:extLst>
              <a:ext uri="{FF2B5EF4-FFF2-40B4-BE49-F238E27FC236}">
                <a16:creationId xmlns:a16="http://schemas.microsoft.com/office/drawing/2014/main" id="{D34E2AF3-70AC-584B-BED3-7FC620CB3AD4}"/>
              </a:ext>
            </a:extLst>
          </p:cNvPr>
          <p:cNvSpPr txBox="1"/>
          <p:nvPr/>
        </p:nvSpPr>
        <p:spPr>
          <a:xfrm>
            <a:off x="8071253" y="4456507"/>
            <a:ext cx="143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886E"/>
              </a:solidFill>
            </a:endParaRPr>
          </a:p>
        </p:txBody>
      </p:sp>
      <p:cxnSp>
        <p:nvCxnSpPr>
          <p:cNvPr id="415" name="Google Shape;415;p30">
            <a:extLst>
              <a:ext uri="{FF2B5EF4-FFF2-40B4-BE49-F238E27FC236}">
                <a16:creationId xmlns:a16="http://schemas.microsoft.com/office/drawing/2014/main" id="{A07EEB9D-7763-8C54-385B-E0BB2ED0015F}"/>
              </a:ext>
            </a:extLst>
          </p:cNvPr>
          <p:cNvCxnSpPr/>
          <p:nvPr/>
        </p:nvCxnSpPr>
        <p:spPr>
          <a:xfrm rot="10800000">
            <a:off x="8071250" y="4432400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00886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6" name="Google Shape;416;p30">
            <a:extLst>
              <a:ext uri="{FF2B5EF4-FFF2-40B4-BE49-F238E27FC236}">
                <a16:creationId xmlns:a16="http://schemas.microsoft.com/office/drawing/2014/main" id="{1B7CFE4A-3249-98E6-D54A-8D6D85DAE363}"/>
              </a:ext>
            </a:extLst>
          </p:cNvPr>
          <p:cNvSpPr txBox="1"/>
          <p:nvPr/>
        </p:nvSpPr>
        <p:spPr>
          <a:xfrm>
            <a:off x="7722725" y="4385600"/>
            <a:ext cx="163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00886E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Finnovate Hackathon</a:t>
            </a:r>
            <a:endParaRPr sz="6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30">
            <a:extLst>
              <a:ext uri="{FF2B5EF4-FFF2-40B4-BE49-F238E27FC236}">
                <a16:creationId xmlns:a16="http://schemas.microsoft.com/office/drawing/2014/main" id="{6120E03A-CF7C-E5AF-B03F-B307A30D821D}"/>
              </a:ext>
            </a:extLst>
          </p:cNvPr>
          <p:cNvSpPr txBox="1"/>
          <p:nvPr/>
        </p:nvSpPr>
        <p:spPr>
          <a:xfrm>
            <a:off x="2694300" y="1822200"/>
            <a:ext cx="3755400" cy="14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00886E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sz="4800" b="1">
              <a:solidFill>
                <a:srgbClr val="00886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8" name="Google Shape;418;p30">
            <a:extLst>
              <a:ext uri="{FF2B5EF4-FFF2-40B4-BE49-F238E27FC236}">
                <a16:creationId xmlns:a16="http://schemas.microsoft.com/office/drawing/2014/main" id="{8075DFEA-82F7-57EA-6B85-CC2F3599D350}"/>
              </a:ext>
            </a:extLst>
          </p:cNvPr>
          <p:cNvSpPr/>
          <p:nvPr/>
        </p:nvSpPr>
        <p:spPr>
          <a:xfrm>
            <a:off x="0" y="5022300"/>
            <a:ext cx="9144000" cy="121200"/>
          </a:xfrm>
          <a:prstGeom prst="rect">
            <a:avLst/>
          </a:prstGeom>
          <a:solidFill>
            <a:srgbClr val="0088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30">
            <a:extLst>
              <a:ext uri="{FF2B5EF4-FFF2-40B4-BE49-F238E27FC236}">
                <a16:creationId xmlns:a16="http://schemas.microsoft.com/office/drawing/2014/main" id="{F326DE1F-9B64-46E2-B8EE-87C8FD4014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250" y="209550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>
            <a:extLst>
              <a:ext uri="{FF2B5EF4-FFF2-40B4-BE49-F238E27FC236}">
                <a16:creationId xmlns:a16="http://schemas.microsoft.com/office/drawing/2014/main" id="{44EFA597-4023-CC17-9C02-483721115730}"/>
              </a:ext>
            </a:extLst>
          </p:cNvPr>
          <p:cNvSpPr txBox="1"/>
          <p:nvPr/>
        </p:nvSpPr>
        <p:spPr>
          <a:xfrm>
            <a:off x="2861750" y="2858150"/>
            <a:ext cx="430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Open Sans Light"/>
              <a:buChar char="-"/>
            </a:pPr>
            <a:r>
              <a:rPr lang="en-GB" sz="1200" i="1">
                <a:solidFill>
                  <a:srgbClr val="66666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Banking. Simplified. For Everyone</a:t>
            </a:r>
            <a:endParaRPr sz="1200" i="1">
              <a:solidFill>
                <a:srgbClr val="66666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21" name="Google Shape;421;p30">
            <a:extLst>
              <a:ext uri="{FF2B5EF4-FFF2-40B4-BE49-F238E27FC236}">
                <a16:creationId xmlns:a16="http://schemas.microsoft.com/office/drawing/2014/main" id="{EC41E75A-4D97-3532-038A-47667E2627E5}"/>
              </a:ext>
            </a:extLst>
          </p:cNvPr>
          <p:cNvSpPr txBox="1"/>
          <p:nvPr/>
        </p:nvSpPr>
        <p:spPr>
          <a:xfrm>
            <a:off x="1147163" y="27591"/>
            <a:ext cx="982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7" b="1">
                <a:solidFill>
                  <a:srgbClr val="00886E"/>
                </a:solidFill>
              </a:rPr>
              <a:t>FLIQ</a:t>
            </a:r>
            <a:endParaRPr sz="907" b="1">
              <a:solidFill>
                <a:srgbClr val="00886E"/>
              </a:solidFill>
            </a:endParaRPr>
          </a:p>
        </p:txBody>
      </p:sp>
      <p:cxnSp>
        <p:nvCxnSpPr>
          <p:cNvPr id="422" name="Google Shape;422;p30">
            <a:extLst>
              <a:ext uri="{FF2B5EF4-FFF2-40B4-BE49-F238E27FC236}">
                <a16:creationId xmlns:a16="http://schemas.microsoft.com/office/drawing/2014/main" id="{E7CD9B79-388E-31D3-6ABA-B5C3718BF57F}"/>
              </a:ext>
            </a:extLst>
          </p:cNvPr>
          <p:cNvCxnSpPr/>
          <p:nvPr/>
        </p:nvCxnSpPr>
        <p:spPr>
          <a:xfrm>
            <a:off x="1185315" y="0"/>
            <a:ext cx="0" cy="437400"/>
          </a:xfrm>
          <a:prstGeom prst="straightConnector1">
            <a:avLst/>
          </a:prstGeom>
          <a:noFill/>
          <a:ln w="4800" cap="flat" cmpd="sng">
            <a:solidFill>
              <a:srgbClr val="0088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3" name="Google Shape;423;p30">
            <a:extLst>
              <a:ext uri="{FF2B5EF4-FFF2-40B4-BE49-F238E27FC236}">
                <a16:creationId xmlns:a16="http://schemas.microsoft.com/office/drawing/2014/main" id="{1D738C3C-5B88-8CAB-DCDE-88A5D7174F8E}"/>
              </a:ext>
            </a:extLst>
          </p:cNvPr>
          <p:cNvSpPr txBox="1"/>
          <p:nvPr/>
        </p:nvSpPr>
        <p:spPr>
          <a:xfrm>
            <a:off x="1056428" y="188975"/>
            <a:ext cx="11640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4" b="1">
                <a:solidFill>
                  <a:srgbClr val="00886E"/>
                </a:solidFill>
              </a:rPr>
              <a:t>Financial Language Intelligence Quotient</a:t>
            </a:r>
            <a:endParaRPr sz="604" b="1">
              <a:solidFill>
                <a:srgbClr val="00886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4" b="1">
              <a:solidFill>
                <a:srgbClr val="00886E"/>
              </a:solidFill>
            </a:endParaRPr>
          </a:p>
        </p:txBody>
      </p:sp>
      <p:sp>
        <p:nvSpPr>
          <p:cNvPr id="424" name="Google Shape;424;p30">
            <a:extLst>
              <a:ext uri="{FF2B5EF4-FFF2-40B4-BE49-F238E27FC236}">
                <a16:creationId xmlns:a16="http://schemas.microsoft.com/office/drawing/2014/main" id="{53300F34-FA78-1079-2E7E-7A2C396B4C8A}"/>
              </a:ext>
            </a:extLst>
          </p:cNvPr>
          <p:cNvSpPr txBox="1"/>
          <p:nvPr/>
        </p:nvSpPr>
        <p:spPr>
          <a:xfrm>
            <a:off x="419811" y="76362"/>
            <a:ext cx="7656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100" tIns="46100" rIns="46100" bIns="461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9" b="1">
                <a:solidFill>
                  <a:srgbClr val="00886E"/>
                </a:solidFill>
              </a:rPr>
              <a:t>BotGods</a:t>
            </a:r>
            <a:endParaRPr sz="1209" b="1">
              <a:solidFill>
                <a:srgbClr val="00886E"/>
              </a:solidFill>
            </a:endParaRPr>
          </a:p>
        </p:txBody>
      </p:sp>
      <p:pic>
        <p:nvPicPr>
          <p:cNvPr id="425" name="Google Shape;425;p30">
            <a:extLst>
              <a:ext uri="{FF2B5EF4-FFF2-40B4-BE49-F238E27FC236}">
                <a16:creationId xmlns:a16="http://schemas.microsoft.com/office/drawing/2014/main" id="{06C38B11-0702-4415-9934-E1A4F293AD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0"/>
            <a:ext cx="419805" cy="4198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06177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90</cp:revision>
  <dcterms:modified xsi:type="dcterms:W3CDTF">2026-01-20T15:11:17Z</dcterms:modified>
</cp:coreProperties>
</file>